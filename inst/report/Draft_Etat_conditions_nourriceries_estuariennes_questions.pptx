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4" r:id="rId6"/>
    <p:sldId id="263" r:id="rId7"/>
    <p:sldId id="258" r:id="rId8"/>
    <p:sldId id="257" r:id="rId9"/>
    <p:sldId id="261" r:id="rId10"/>
    <p:sldId id="266" r:id="rId11"/>
    <p:sldId id="265" r:id="rId12"/>
    <p:sldId id="267" r:id="rId13"/>
    <p:sldId id="26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094"/>
    <a:srgbClr val="F8766D"/>
    <a:srgbClr val="A3A500"/>
    <a:srgbClr val="00BF7D"/>
    <a:srgbClr val="00B0F6"/>
    <a:srgbClr val="E76B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13C1B9-F673-4CC4-82D2-BD24389BB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9BB4B79-62C0-420A-9AEB-DB38C68B3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38C5A2-1EFB-4A28-8E99-BC92154D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F3A862-51C6-4021-9958-5423B605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31E27B7-6119-45E1-A382-C72C19D7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905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C59087-5B1E-4106-BDEF-137951155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1CB6A9-D0F1-46FA-BFAF-C29C182F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B7664B-4294-44B7-809F-BDC5B3F44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34E8BA-CB87-4E5D-9081-0F58642FB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136C10-86F2-4803-823B-77BE461A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163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443150-2975-4879-BC26-0E7738D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C421C1-E4E1-453F-ABAD-9E902950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E6C6B-4AA1-4F84-B27F-C9E02EBD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AA474E-3999-4579-ABE8-72B22C64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F7285E-38D3-441A-98CB-6531714E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07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E3766C-8E2D-4247-8917-E7DBD9F1F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912F32-D4E5-4435-9E80-A6E079B79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A383805-92B2-4681-BE0C-AE89E41FA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FC9BB4-45AC-4C04-84D3-E3B10619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C7CDB0-7DC3-480C-A9E1-AEA7275D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C61B4B-432E-49E7-B7D2-3EFA1D1B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1135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A506D7-3231-4BA4-AEF6-36219391A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17E989-A114-4A59-AB22-53911AD6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955E24-54F3-448D-A195-0BAA88913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AD47100-981A-4088-80DD-B43BB41B1B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0017C77-7439-4C57-BD0A-CB5A1C50C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860B8BE-1086-4D99-935A-7BB5ED61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DAFB454-BF7A-4C62-8CFD-DDC6BAEC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B077704-5CB8-4748-88B8-4132A8C3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43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1BC547-E1C4-4716-93C3-577F49F35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2F01B37-D0AE-4216-A2BB-4711BB65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0095DA6-019E-4974-A6C9-298FCD9A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851043-497E-43D3-AB51-083DD089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0098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978FA32-BDDC-40BC-93F3-9D61AE48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C8A413-6930-4A4A-99E8-BA44AE536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AD52CF-1F41-405E-B71F-D8DC724E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68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15405A-B8A9-438B-AB83-E602092C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694463-735F-41E9-AC4E-829BB1BBF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8DE762-8B62-4CCC-AE1F-502D77B86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51C5DE-493D-4612-834F-E16694274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A1A7F44-40AA-4AFE-87AF-B1D8568B6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C914187-E704-42D3-84B0-31EF47AE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421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F43E74-0173-4E96-B6BE-078596C6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F3A469-A671-4EDF-A738-6802AD7CC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FBA3D6-213F-48C8-80B5-02B2CDE6A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371AC9-A943-4B38-AA2A-22AFC3E5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0C4466-2417-4673-86EC-70C07BD7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93C6958-405C-492B-A65B-749E324CC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4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DC0A5-6B54-4578-A197-417F3982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7AF9DF-9EAC-47E4-AD6E-4275A8EE3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BEF31B8-4E49-4D3E-874E-B1C4AB8E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1F3E86-70D3-4D1B-8AC5-626155DC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5525AF-7808-43BC-AB5D-F0EDA7381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0947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2EB1B95-F995-45AE-B5A7-22D94045DF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769E6C-792E-406D-8C54-A0F4D1C54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D429FD-813D-4EB6-B5D5-090162C9A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7C5AAA-188B-4F42-A605-C571ED19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BBFF406-90F0-4868-B397-DBBE513B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1397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3450E8-A547-4F60-8E8B-085E63EB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118393-1C8B-4415-BD83-3DAC22FED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24E007-0D30-43B9-8F37-8FD12BD50B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5A9A7-5127-4C1D-9F76-AD97E75A9CFC}" type="datetimeFigureOut">
              <a:rPr lang="fr-FR" smtClean="0"/>
              <a:t>05/02/2026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B8A6C9-3163-4B4E-ACF2-044497109F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589D12-B7F6-4DB1-AC6D-50DF33894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2BDDA-DA17-46B7-845B-D42517ACEC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74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ofb.gouv.fr/comprendre-les-milieux-estuariens-pour-mieux-les-preserver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C37AA-F697-42CA-A26D-C4D227DAB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54487"/>
          </a:xfrm>
        </p:spPr>
        <p:txBody>
          <a:bodyPr>
            <a:normAutofit fontScale="90000"/>
          </a:bodyPr>
          <a:lstStyle/>
          <a:p>
            <a:r>
              <a:rPr lang="fr-FR" dirty="0"/>
              <a:t>POMET (DCE): </a:t>
            </a:r>
            <a:r>
              <a:rPr lang="fr-FR" dirty="0" err="1"/>
              <a:t>fish</a:t>
            </a:r>
            <a:r>
              <a:rPr lang="fr-FR" dirty="0"/>
              <a:t> &amp; </a:t>
            </a:r>
            <a:r>
              <a:rPr lang="fr-FR" dirty="0" err="1"/>
              <a:t>demerso-pellagic</a:t>
            </a:r>
            <a:r>
              <a:rPr lang="fr-FR" dirty="0"/>
              <a:t> </a:t>
            </a:r>
            <a:r>
              <a:rPr lang="fr-FR" dirty="0" err="1"/>
              <a:t>preys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vs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REBENT: </a:t>
            </a:r>
            <a:r>
              <a:rPr lang="fr-FR" dirty="0" err="1"/>
              <a:t>benthic</a:t>
            </a:r>
            <a:r>
              <a:rPr lang="fr-FR" dirty="0"/>
              <a:t> </a:t>
            </a:r>
            <a:r>
              <a:rPr lang="fr-FR" dirty="0" err="1"/>
              <a:t>preys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850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6E12E3-4897-4556-BAEB-BD582368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Ecological guilds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9E9374-C933-4B83-800C-4B4CF7536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EM: resident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</a:p>
          <a:p>
            <a:r>
              <a:rPr lang="en-US" dirty="0"/>
              <a:t>MS: seasonal marine</a:t>
            </a:r>
          </a:p>
          <a:p>
            <a:r>
              <a:rPr lang="en-US" dirty="0"/>
              <a:t>DIA: diadromous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?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MJ: marine juveniles</a:t>
            </a:r>
          </a:p>
          <a:p>
            <a:r>
              <a:rPr lang="en-US" dirty="0"/>
              <a:t>FW: freshwater</a:t>
            </a:r>
          </a:p>
          <a:p>
            <a:r>
              <a:rPr lang="en-US" dirty="0"/>
              <a:t>MA: occasional marine</a:t>
            </a:r>
          </a:p>
        </p:txBody>
      </p:sp>
    </p:spTree>
    <p:extLst>
      <p:ext uri="{BB962C8B-B14F-4D97-AF65-F5344CB8AC3E}">
        <p14:creationId xmlns:p14="http://schemas.microsoft.com/office/powerpoint/2010/main" val="250793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1AE102-A5FB-4FCA-AE96-34306B132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Marine </a:t>
            </a:r>
            <a:r>
              <a:rPr lang="fr-FR" dirty="0" err="1"/>
              <a:t>juvenile</a:t>
            </a:r>
            <a:r>
              <a:rPr lang="fr-FR" dirty="0"/>
              <a:t> </a:t>
            </a:r>
            <a:r>
              <a:rPr lang="fr-FR" dirty="0" err="1"/>
              <a:t>species</a:t>
            </a:r>
            <a:r>
              <a:rPr lang="fr-FR" dirty="0"/>
              <a:t> (MJ)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44C154DB-4C2B-42C0-9FF7-E85CFC34AA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244996"/>
              </p:ext>
            </p:extLst>
          </p:nvPr>
        </p:nvGraphicFramePr>
        <p:xfrm>
          <a:off x="714372" y="1703071"/>
          <a:ext cx="98298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159779128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27469690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86760585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5105908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51540457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3777001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Arthropoda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Arthropoda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976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Liocarcinus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depurator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Liocarcinus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holsatus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Solea </a:t>
                      </a:r>
                      <a:r>
                        <a:rPr lang="fr-FR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solea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Merlangius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merlangus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Trisopterus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luscus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Dicentrarchus</a:t>
                      </a:r>
                      <a:r>
                        <a:rPr lang="fr-F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labrax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2377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>
                          <a:effectLst/>
                        </a:rPr>
                        <a:t>Etrille pattes bleues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Etrille nageuse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Sole commune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Merlan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Tacaud commun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Bar européen</a:t>
                      </a:r>
                      <a:endParaRPr lang="fr-FR" sz="12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409398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EEB1CBA-EA90-4800-88AE-62AB54ED5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182054"/>
              </p:ext>
            </p:extLst>
          </p:nvPr>
        </p:nvGraphicFramePr>
        <p:xfrm>
          <a:off x="714372" y="2724150"/>
          <a:ext cx="98298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1806781179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58158655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80814286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90366281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3321201724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036024333"/>
                    </a:ext>
                  </a:extLst>
                </a:gridCol>
              </a:tblGrid>
              <a:tr h="60968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3729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Sprattus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sprattus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Solea senegalensis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Dicentrarchus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punctatus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Pleuronectes </a:t>
                      </a:r>
                      <a:r>
                        <a:rPr lang="fr-FR" sz="1200" b="1" u="none" strike="noStrike" dirty="0" err="1">
                          <a:effectLst/>
                        </a:rPr>
                        <a:t>platessa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Trachurus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trachurus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Chelidonichthys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lucernus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500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Sprat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Sole sénégalaise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Bar tacheté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Plie d'Europe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Chinchard d'Europe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Grondin perlon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73016"/>
                  </a:ext>
                </a:extLst>
              </a:tr>
            </a:tbl>
          </a:graphicData>
        </a:graphic>
      </p:graphicFrame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75F785D7-2F48-4D94-894D-FDB89BFA1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515506"/>
              </p:ext>
            </p:extLst>
          </p:nvPr>
        </p:nvGraphicFramePr>
        <p:xfrm>
          <a:off x="714373" y="3609975"/>
          <a:ext cx="9829800" cy="619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8300">
                  <a:extLst>
                    <a:ext uri="{9D8B030D-6E8A-4147-A177-3AD203B41FA5}">
                      <a16:colId xmlns:a16="http://schemas.microsoft.com/office/drawing/2014/main" val="40791641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7915466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4139875231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414599938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870576603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432669337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>
                          <a:effectLst/>
                        </a:rPr>
                        <a:t>Chordata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35695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Limanda </a:t>
                      </a:r>
                      <a:r>
                        <a:rPr lang="fr-FR" sz="1200" b="1" u="none" strike="noStrike" dirty="0" err="1">
                          <a:effectLst/>
                        </a:rPr>
                        <a:t>limanda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Psetta</a:t>
                      </a:r>
                      <a:r>
                        <a:rPr lang="fr-FR" sz="1200" b="1" u="none" strike="noStrike" dirty="0">
                          <a:effectLst/>
                        </a:rPr>
                        <a:t> maxima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Clupea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harengus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>
                          <a:effectLst/>
                        </a:rPr>
                        <a:t>Mullus surmuletus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Trigla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lyra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 err="1">
                          <a:effectLst/>
                        </a:rPr>
                        <a:t>Scophthalmus</a:t>
                      </a:r>
                      <a:r>
                        <a:rPr lang="fr-FR" sz="1200" b="1" u="none" strike="noStrike" dirty="0">
                          <a:effectLst/>
                        </a:rPr>
                        <a:t> rhombus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1159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Limande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Turbot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>
                          <a:effectLst/>
                        </a:rPr>
                        <a:t>Hareng de l'Atlantique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>
                          <a:effectLst/>
                        </a:rPr>
                        <a:t>Rouget de roche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>
                          <a:effectLst/>
                        </a:rPr>
                        <a:t>Grondin lyre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200" b="1" u="none" strike="noStrike" dirty="0">
                          <a:effectLst/>
                        </a:rPr>
                        <a:t>Barbue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872693"/>
                  </a:ext>
                </a:extLst>
              </a:tr>
            </a:tbl>
          </a:graphicData>
        </a:graphic>
      </p:graphicFrame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0F7F5425-03ED-418D-9274-43D953A19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852777"/>
              </p:ext>
            </p:extLst>
          </p:nvPr>
        </p:nvGraphicFramePr>
        <p:xfrm>
          <a:off x="714373" y="4583429"/>
          <a:ext cx="8458202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3087">
                  <a:extLst>
                    <a:ext uri="{9D8B030D-6E8A-4147-A177-3AD203B41FA5}">
                      <a16:colId xmlns:a16="http://schemas.microsoft.com/office/drawing/2014/main" val="2289186355"/>
                    </a:ext>
                  </a:extLst>
                </a:gridCol>
                <a:gridCol w="1555946">
                  <a:extLst>
                    <a:ext uri="{9D8B030D-6E8A-4147-A177-3AD203B41FA5}">
                      <a16:colId xmlns:a16="http://schemas.microsoft.com/office/drawing/2014/main" val="3670515072"/>
                    </a:ext>
                  </a:extLst>
                </a:gridCol>
                <a:gridCol w="1564993">
                  <a:extLst>
                    <a:ext uri="{9D8B030D-6E8A-4147-A177-3AD203B41FA5}">
                      <a16:colId xmlns:a16="http://schemas.microsoft.com/office/drawing/2014/main" val="2064666423"/>
                    </a:ext>
                  </a:extLst>
                </a:gridCol>
                <a:gridCol w="1546900">
                  <a:extLst>
                    <a:ext uri="{9D8B030D-6E8A-4147-A177-3AD203B41FA5}">
                      <a16:colId xmlns:a16="http://schemas.microsoft.com/office/drawing/2014/main" val="724404748"/>
                    </a:ext>
                  </a:extLst>
                </a:gridCol>
                <a:gridCol w="2207276">
                  <a:extLst>
                    <a:ext uri="{9D8B030D-6E8A-4147-A177-3AD203B41FA5}">
                      <a16:colId xmlns:a16="http://schemas.microsoft.com/office/drawing/2014/main" val="208125440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Chordata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30256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Solea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Pollachius</a:t>
                      </a:r>
                      <a:r>
                        <a:rPr lang="fr-FR" sz="1200" b="1" u="none" strike="noStrike" dirty="0">
                          <a:effectLst/>
                        </a:rPr>
                        <a:t> </a:t>
                      </a:r>
                      <a:r>
                        <a:rPr lang="fr-FR" sz="1200" b="1" u="none" strike="noStrike" dirty="0" err="1">
                          <a:effectLst/>
                        </a:rPr>
                        <a:t>pollachius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Dicentrarchus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Sardina </a:t>
                      </a:r>
                      <a:r>
                        <a:rPr lang="fr-FR" sz="1200" b="1" u="none" strike="noStrike" dirty="0" err="1">
                          <a:effectLst/>
                        </a:rPr>
                        <a:t>pilchardus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 err="1">
                          <a:effectLst/>
                        </a:rPr>
                        <a:t>Spondyliosoma</a:t>
                      </a:r>
                      <a:r>
                        <a:rPr lang="fr-FR" sz="1200" b="1" u="none" strike="noStrike" dirty="0">
                          <a:effectLst/>
                        </a:rPr>
                        <a:t> cantharus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1295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Soles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Lieu jaune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Bars </a:t>
                      </a:r>
                      <a:r>
                        <a:rPr lang="fr-FR" sz="1200" b="1" u="none" strike="noStrike" dirty="0" err="1">
                          <a:effectLst/>
                        </a:rPr>
                        <a:t>nca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Sardine commune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fr-FR" sz="1200" b="1" u="none" strike="noStrike" dirty="0">
                          <a:effectLst/>
                        </a:rPr>
                        <a:t>Griset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370962"/>
                  </a:ext>
                </a:extLst>
              </a:tr>
            </a:tbl>
          </a:graphicData>
        </a:graphic>
      </p:graphicFrame>
      <p:graphicFrame>
        <p:nvGraphicFramePr>
          <p:cNvPr id="15" name="Tableau 15">
            <a:extLst>
              <a:ext uri="{FF2B5EF4-FFF2-40B4-BE49-F238E27FC236}">
                <a16:creationId xmlns:a16="http://schemas.microsoft.com/office/drawing/2014/main" id="{BEB15E2A-40EA-4979-BEC9-261DBBE31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315162"/>
              </p:ext>
            </p:extLst>
          </p:nvPr>
        </p:nvGraphicFramePr>
        <p:xfrm>
          <a:off x="6775450" y="6218555"/>
          <a:ext cx="457835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6475">
                  <a:extLst>
                    <a:ext uri="{9D8B030D-6E8A-4147-A177-3AD203B41FA5}">
                      <a16:colId xmlns:a16="http://schemas.microsoft.com/office/drawing/2014/main" val="3633658878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989758691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2720247982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461166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fr-FR" sz="1200" dirty="0" err="1"/>
                        <a:t>indicators</a:t>
                      </a:r>
                      <a:endParaRPr lang="fr-FR" sz="12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Gironde </a:t>
                      </a:r>
                      <a:r>
                        <a:rPr lang="fr-FR" sz="1200" dirty="0" err="1">
                          <a:solidFill>
                            <a:schemeClr val="tx1"/>
                          </a:solidFill>
                        </a:rPr>
                        <a:t>trophic</a:t>
                      </a:r>
                      <a:r>
                        <a:rPr lang="fr-FR" sz="1200" dirty="0">
                          <a:solidFill>
                            <a:schemeClr val="tx1"/>
                          </a:solidFill>
                        </a:rPr>
                        <a:t> network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err="1">
                          <a:solidFill>
                            <a:schemeClr val="tx1"/>
                          </a:solidFill>
                        </a:rPr>
                        <a:t>preys</a:t>
                      </a: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err="1">
                          <a:solidFill>
                            <a:schemeClr val="tx1"/>
                          </a:solidFill>
                        </a:rPr>
                        <a:t>others</a:t>
                      </a:r>
                      <a:endParaRPr lang="fr-FR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621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24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86B4EC-B66D-4F4B-9487-F4CB7A0C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Common sole and </a:t>
            </a:r>
            <a:r>
              <a:rPr lang="fr-FR" dirty="0" err="1"/>
              <a:t>european</a:t>
            </a:r>
            <a:r>
              <a:rPr lang="fr-FR" dirty="0"/>
              <a:t> </a:t>
            </a:r>
            <a:r>
              <a:rPr lang="fr-FR" dirty="0" err="1"/>
              <a:t>seabass</a:t>
            </a:r>
            <a:r>
              <a:rPr lang="fr-FR" dirty="0"/>
              <a:t> </a:t>
            </a:r>
            <a:r>
              <a:rPr lang="fr-FR" dirty="0" err="1"/>
              <a:t>autumn</a:t>
            </a:r>
            <a:r>
              <a:rPr lang="fr-FR" dirty="0"/>
              <a:t> spatial distribution </a:t>
            </a:r>
            <a:r>
              <a:rPr lang="fr-FR" dirty="0" err="1"/>
              <a:t>depending</a:t>
            </a:r>
            <a:r>
              <a:rPr lang="fr-FR" dirty="0"/>
              <a:t> on </a:t>
            </a:r>
            <a:r>
              <a:rPr lang="fr-FR" dirty="0" err="1"/>
              <a:t>fish</a:t>
            </a:r>
            <a:r>
              <a:rPr lang="fr-FR" dirty="0"/>
              <a:t> </a:t>
            </a:r>
            <a:r>
              <a:rPr lang="fr-FR" dirty="0" err="1"/>
              <a:t>length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609335D-D90A-4CE8-8EE4-2F0584DD9B57}"/>
              </a:ext>
            </a:extLst>
          </p:cNvPr>
          <p:cNvSpPr txBox="1"/>
          <p:nvPr/>
        </p:nvSpPr>
        <p:spPr>
          <a:xfrm>
            <a:off x="6879503" y="1950304"/>
            <a:ext cx="5188672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400" dirty="0"/>
              <a:t>Ecologie bar:</a:t>
            </a:r>
          </a:p>
          <a:p>
            <a:r>
              <a:rPr lang="fr-FR" sz="1400" dirty="0"/>
              <a:t>- Estuarien la 1</a:t>
            </a:r>
            <a:r>
              <a:rPr lang="fr-FR" sz="1400" baseline="30000" dirty="0"/>
              <a:t>ère</a:t>
            </a:r>
            <a:r>
              <a:rPr lang="fr-FR" sz="1400" dirty="0"/>
              <a:t> année (jusqu’à 160mm)</a:t>
            </a:r>
            <a:br>
              <a:rPr lang="fr-FR" sz="1400" dirty="0"/>
            </a:br>
            <a:r>
              <a:rPr lang="fr-FR" sz="1400" dirty="0"/>
              <a:t>- Présence ponctuelle en 2</a:t>
            </a:r>
            <a:r>
              <a:rPr lang="fr-FR" sz="1400" baseline="30000" dirty="0"/>
              <a:t>ème</a:t>
            </a:r>
            <a:r>
              <a:rPr lang="fr-FR" sz="1400" dirty="0"/>
              <a:t> année (jusqu’à 210mm)</a:t>
            </a:r>
          </a:p>
          <a:p>
            <a:endParaRPr lang="fr-FR" sz="1400" dirty="0"/>
          </a:p>
          <a:p>
            <a:r>
              <a:rPr lang="fr-FR" sz="1400" dirty="0"/>
              <a:t>Ecologie sole:</a:t>
            </a:r>
          </a:p>
          <a:p>
            <a:r>
              <a:rPr lang="fr-FR" sz="1400" dirty="0"/>
              <a:t>- Estuarien les 2 premières années (13-14cm fin 1</a:t>
            </a:r>
            <a:r>
              <a:rPr lang="fr-FR" sz="1400" baseline="30000" dirty="0"/>
              <a:t>ère</a:t>
            </a:r>
            <a:r>
              <a:rPr lang="fr-FR" sz="1400" dirty="0"/>
              <a:t>)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r>
              <a:rPr lang="fr-FR" sz="1400" i="1" dirty="0"/>
              <a:t>Source: </a:t>
            </a:r>
            <a:r>
              <a:rPr lang="fr-FR" sz="1400" i="1" dirty="0" err="1"/>
              <a:t>Pasquaud</a:t>
            </a:r>
            <a:r>
              <a:rPr lang="fr-FR" sz="1400" i="1" dirty="0"/>
              <a:t> 2006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D6EBE8E-65C8-44A6-B160-4A1E2E5C76AE}"/>
              </a:ext>
            </a:extLst>
          </p:cNvPr>
          <p:cNvSpPr txBox="1"/>
          <p:nvPr/>
        </p:nvSpPr>
        <p:spPr>
          <a:xfrm>
            <a:off x="6879503" y="4025802"/>
            <a:ext cx="518867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Bar G0 :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Gironde : amont ≈ aval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Seine : amont &gt; central &gt; aval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r>
              <a:rPr lang="fr-FR" sz="1400" dirty="0"/>
              <a:t>Sole G0 :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Gironde : amont = central = aval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Seine : aval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r>
              <a:rPr lang="fr-FR" sz="1400" dirty="0"/>
              <a:t>Sole G1 : 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Gironde : aval &gt; central &gt; amont</a:t>
            </a:r>
          </a:p>
          <a:p>
            <a:pPr marL="285750" indent="-285750">
              <a:buFontTx/>
              <a:buChar char="-"/>
            </a:pPr>
            <a:r>
              <a:rPr lang="fr-FR" sz="1400" dirty="0"/>
              <a:t>Seine : aval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7279A88-B513-4A94-BCC9-E390B1E89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94" y="1972628"/>
            <a:ext cx="6098381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9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A5585-5CB0-454A-A0DA-B5F07111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Biological</a:t>
            </a:r>
            <a:r>
              <a:rPr lang="fr-FR" dirty="0"/>
              <a:t> size classes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266876B-0CE8-4EA2-9D83-E532AAB51FD3}"/>
              </a:ext>
            </a:extLst>
          </p:cNvPr>
          <p:cNvSpPr txBox="1"/>
          <p:nvPr/>
        </p:nvSpPr>
        <p:spPr>
          <a:xfrm>
            <a:off x="6677025" y="346076"/>
            <a:ext cx="49815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Method :</a:t>
            </a:r>
            <a:r>
              <a:rPr lang="fr-FR" dirty="0"/>
              <a:t> {</a:t>
            </a:r>
            <a:r>
              <a:rPr lang="fr-FR" dirty="0" err="1"/>
              <a:t>mixtools</a:t>
            </a:r>
            <a:r>
              <a:rPr lang="fr-FR" dirty="0"/>
              <a:t>}</a:t>
            </a:r>
            <a:endParaRPr lang="fr-FR" u="sng" dirty="0"/>
          </a:p>
          <a:p>
            <a:r>
              <a:rPr lang="fr-FR" dirty="0"/>
              <a:t>Expectation-</a:t>
            </a:r>
            <a:r>
              <a:rPr lang="fr-FR" dirty="0" err="1"/>
              <a:t>maximization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output for mixtures of 2 normal distributions</a:t>
            </a:r>
          </a:p>
          <a:p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Automne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 Tous estuaires/zones confondues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1DD218-633B-46B6-93B2-9F6D15C813F8}"/>
              </a:ext>
            </a:extLst>
          </p:cNvPr>
          <p:cNvSpPr txBox="1"/>
          <p:nvPr/>
        </p:nvSpPr>
        <p:spPr>
          <a:xfrm>
            <a:off x="6972300" y="5927721"/>
            <a:ext cx="1909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 err="1"/>
              <a:t>Result</a:t>
            </a:r>
            <a:r>
              <a:rPr lang="fr-FR" u="sng" dirty="0"/>
              <a:t> sole:</a:t>
            </a:r>
          </a:p>
          <a:p>
            <a:r>
              <a:rPr lang="fr-FR" dirty="0" err="1"/>
              <a:t>Threshold</a:t>
            </a:r>
            <a:r>
              <a:rPr lang="fr-FR" dirty="0"/>
              <a:t> = 18 cm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507C10F-CD7C-4528-B7D9-05FAEF00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18355"/>
            <a:ext cx="6619875" cy="34906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1FFFF97-4946-42B3-A2BA-72220E351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287" y="2459790"/>
            <a:ext cx="6462713" cy="340776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6A978A80-335F-450D-8A21-7900ABBB6F95}"/>
              </a:ext>
            </a:extLst>
          </p:cNvPr>
          <p:cNvSpPr txBox="1"/>
          <p:nvPr/>
        </p:nvSpPr>
        <p:spPr>
          <a:xfrm>
            <a:off x="533400" y="5908995"/>
            <a:ext cx="1909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 err="1"/>
              <a:t>Result</a:t>
            </a:r>
            <a:r>
              <a:rPr lang="fr-FR" u="sng" dirty="0"/>
              <a:t> bar:</a:t>
            </a:r>
          </a:p>
          <a:p>
            <a:r>
              <a:rPr lang="fr-FR" dirty="0" err="1"/>
              <a:t>Threshold</a:t>
            </a:r>
            <a:r>
              <a:rPr lang="fr-FR" dirty="0"/>
              <a:t> = 13 cm</a:t>
            </a:r>
          </a:p>
        </p:txBody>
      </p:sp>
    </p:spTree>
    <p:extLst>
      <p:ext uri="{BB962C8B-B14F-4D97-AF65-F5344CB8AC3E}">
        <p14:creationId xmlns:p14="http://schemas.microsoft.com/office/powerpoint/2010/main" val="379162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4EDD10-2F00-44D4-A6E1-F6EED938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Sole and </a:t>
            </a:r>
            <a:r>
              <a:rPr lang="fr-FR" dirty="0" err="1"/>
              <a:t>seabass</a:t>
            </a:r>
            <a:r>
              <a:rPr lang="fr-FR" dirty="0"/>
              <a:t> </a:t>
            </a:r>
            <a:r>
              <a:rPr lang="fr-FR" dirty="0" err="1"/>
              <a:t>preys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CCAD53-8150-49E7-B171-F0E4B10A1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26" y="2181007"/>
            <a:ext cx="813435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400" dirty="0" err="1"/>
              <a:t>Seabass</a:t>
            </a:r>
            <a:r>
              <a:rPr lang="fr-FR" sz="2400" dirty="0"/>
              <a:t> G0 (&lt; 16 cm): </a:t>
            </a:r>
          </a:p>
          <a:p>
            <a:r>
              <a:rPr lang="fr-FR" sz="2400" dirty="0"/>
              <a:t>Printemps: </a:t>
            </a:r>
            <a:r>
              <a:rPr lang="fr-FR" sz="2400" dirty="0">
                <a:solidFill>
                  <a:schemeClr val="accent6"/>
                </a:solidFill>
              </a:rPr>
              <a:t>amphipodes +++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1"/>
                </a:solidFill>
              </a:rPr>
              <a:t>crevettes</a:t>
            </a:r>
            <a:r>
              <a:rPr lang="fr-FR" sz="2400" dirty="0"/>
              <a:t>, </a:t>
            </a:r>
            <a:r>
              <a:rPr lang="fr-FR" sz="2400" dirty="0">
                <a:solidFill>
                  <a:srgbClr val="FF0000"/>
                </a:solidFill>
              </a:rPr>
              <a:t>copépodes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6"/>
                </a:solidFill>
              </a:rPr>
              <a:t>mysidacés</a:t>
            </a:r>
          </a:p>
          <a:p>
            <a:r>
              <a:rPr lang="fr-FR" sz="2400" dirty="0"/>
              <a:t>Eté : </a:t>
            </a:r>
            <a:r>
              <a:rPr lang="fr-FR" sz="2400" dirty="0">
                <a:solidFill>
                  <a:schemeClr val="accent1"/>
                </a:solidFill>
              </a:rPr>
              <a:t>crevettes</a:t>
            </a:r>
            <a:r>
              <a:rPr lang="fr-FR" sz="2400" dirty="0"/>
              <a:t>, </a:t>
            </a:r>
            <a:r>
              <a:rPr lang="fr-FR" sz="2400" dirty="0">
                <a:solidFill>
                  <a:srgbClr val="FF0000"/>
                </a:solidFill>
              </a:rPr>
              <a:t>copépodes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6"/>
                </a:solidFill>
              </a:rPr>
              <a:t>mysidacés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6"/>
                </a:solidFill>
              </a:rPr>
              <a:t>isopodes</a:t>
            </a:r>
          </a:p>
          <a:p>
            <a:r>
              <a:rPr lang="fr-FR" sz="2400" dirty="0"/>
              <a:t>Automne: </a:t>
            </a:r>
            <a:r>
              <a:rPr lang="fr-FR" sz="2400" dirty="0">
                <a:solidFill>
                  <a:schemeClr val="accent1"/>
                </a:solidFill>
              </a:rPr>
              <a:t>crevettes</a:t>
            </a:r>
            <a:r>
              <a:rPr lang="fr-FR" sz="2400" dirty="0"/>
              <a:t> &gt; </a:t>
            </a:r>
            <a:r>
              <a:rPr lang="fr-FR" sz="2400" dirty="0">
                <a:solidFill>
                  <a:schemeClr val="accent6"/>
                </a:solidFill>
              </a:rPr>
              <a:t>mysidacés</a:t>
            </a:r>
          </a:p>
          <a:p>
            <a:endParaRPr lang="fr-FR" sz="2400" dirty="0"/>
          </a:p>
          <a:p>
            <a:pPr marL="0" indent="0">
              <a:buNone/>
            </a:pPr>
            <a:r>
              <a:rPr lang="fr-FR" sz="2400" dirty="0"/>
              <a:t>Solea G0 (&lt; 13-14cm) &amp; G1 (14-25cm):</a:t>
            </a:r>
          </a:p>
          <a:p>
            <a:pPr>
              <a:buFontTx/>
              <a:buChar char="-"/>
            </a:pPr>
            <a:r>
              <a:rPr lang="fr-FR" sz="2400" dirty="0"/>
              <a:t>Printemps/été: </a:t>
            </a:r>
            <a:r>
              <a:rPr lang="fr-FR" sz="2400" dirty="0">
                <a:solidFill>
                  <a:schemeClr val="accent6"/>
                </a:solidFill>
              </a:rPr>
              <a:t>amphipodes &amp; polychètes +++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6"/>
                </a:solidFill>
              </a:rPr>
              <a:t>isopodes, </a:t>
            </a:r>
            <a:r>
              <a:rPr lang="fr-FR" sz="2400" dirty="0">
                <a:solidFill>
                  <a:schemeClr val="accent1"/>
                </a:solidFill>
              </a:rPr>
              <a:t>crevettes</a:t>
            </a:r>
          </a:p>
          <a:p>
            <a:pPr>
              <a:buFontTx/>
              <a:buChar char="-"/>
            </a:pPr>
            <a:r>
              <a:rPr lang="fr-FR" sz="2400" dirty="0"/>
              <a:t>Automne/hiver : </a:t>
            </a:r>
            <a:r>
              <a:rPr lang="fr-FR" sz="2400" dirty="0">
                <a:solidFill>
                  <a:schemeClr val="accent6"/>
                </a:solidFill>
              </a:rPr>
              <a:t>polychètes +++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6"/>
                </a:solidFill>
              </a:rPr>
              <a:t>isopodes</a:t>
            </a:r>
            <a:r>
              <a:rPr lang="fr-FR" sz="2400" dirty="0"/>
              <a:t>, </a:t>
            </a:r>
            <a:r>
              <a:rPr lang="fr-FR" sz="2400" dirty="0">
                <a:solidFill>
                  <a:schemeClr val="accent1"/>
                </a:solidFill>
              </a:rPr>
              <a:t>crevettes</a:t>
            </a:r>
          </a:p>
          <a:p>
            <a:pPr>
              <a:buFontTx/>
              <a:buChar char="-"/>
            </a:pPr>
            <a:endParaRPr lang="fr-FR" sz="2400" dirty="0">
              <a:solidFill>
                <a:schemeClr val="accent1"/>
              </a:solidFill>
            </a:endParaRPr>
          </a:p>
          <a:p>
            <a:pPr marL="0" indent="0" algn="r">
              <a:buNone/>
            </a:pPr>
            <a:r>
              <a:rPr lang="fr-FR" sz="1500" i="1" dirty="0"/>
              <a:t>Source: </a:t>
            </a:r>
            <a:r>
              <a:rPr lang="fr-FR" sz="1500" i="1" dirty="0" err="1"/>
              <a:t>Pasquaud</a:t>
            </a:r>
            <a:r>
              <a:rPr lang="fr-FR" sz="1500" i="1" dirty="0"/>
              <a:t> 2006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4BFA3C-AEEA-41E2-8B05-5BB947699BBD}"/>
              </a:ext>
            </a:extLst>
          </p:cNvPr>
          <p:cNvSpPr txBox="1"/>
          <p:nvPr/>
        </p:nvSpPr>
        <p:spPr>
          <a:xfrm>
            <a:off x="6869978" y="365125"/>
            <a:ext cx="5188672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fr-FR" sz="1400" dirty="0"/>
              <a:t>Ecologie bar:</a:t>
            </a:r>
          </a:p>
          <a:p>
            <a:r>
              <a:rPr lang="fr-FR" sz="1400" dirty="0"/>
              <a:t>- Estuarien la 1</a:t>
            </a:r>
            <a:r>
              <a:rPr lang="fr-FR" sz="1400" baseline="30000" dirty="0"/>
              <a:t>ère</a:t>
            </a:r>
            <a:r>
              <a:rPr lang="fr-FR" sz="1400" dirty="0"/>
              <a:t> année (jusqu’à 160mm)</a:t>
            </a:r>
            <a:br>
              <a:rPr lang="fr-FR" sz="1400" dirty="0"/>
            </a:br>
            <a:r>
              <a:rPr lang="fr-FR" sz="1400" dirty="0"/>
              <a:t>- Présence ponctuelle en 2</a:t>
            </a:r>
            <a:r>
              <a:rPr lang="fr-FR" sz="1400" baseline="30000" dirty="0"/>
              <a:t>ème</a:t>
            </a:r>
            <a:r>
              <a:rPr lang="fr-FR" sz="1400" dirty="0"/>
              <a:t> année (jusqu’à 210mm)</a:t>
            </a:r>
          </a:p>
          <a:p>
            <a:endParaRPr lang="fr-FR" sz="1400" dirty="0"/>
          </a:p>
          <a:p>
            <a:r>
              <a:rPr lang="fr-FR" sz="1400" dirty="0"/>
              <a:t>Ecologie sole:</a:t>
            </a:r>
          </a:p>
          <a:p>
            <a:r>
              <a:rPr lang="fr-FR" sz="1400" dirty="0"/>
              <a:t>- Estuarien les 2 premières années (13-14cm fin 1</a:t>
            </a:r>
            <a:r>
              <a:rPr lang="fr-FR" sz="1400" baseline="30000" dirty="0"/>
              <a:t>ère</a:t>
            </a:r>
            <a:r>
              <a:rPr lang="fr-FR" sz="1400" dirty="0"/>
              <a:t>)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r>
              <a:rPr lang="fr-FR" sz="1400" i="1" dirty="0"/>
              <a:t>Source: </a:t>
            </a:r>
            <a:r>
              <a:rPr lang="fr-FR" sz="1400" i="1" dirty="0" err="1"/>
              <a:t>Pasquaud</a:t>
            </a:r>
            <a:r>
              <a:rPr lang="fr-FR" sz="1400" i="1" dirty="0"/>
              <a:t> 2006</a:t>
            </a: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E4273E58-79F0-411C-BBB4-EF620D228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529952"/>
              </p:ext>
            </p:extLst>
          </p:nvPr>
        </p:nvGraphicFramePr>
        <p:xfrm>
          <a:off x="8972551" y="3571875"/>
          <a:ext cx="2978912" cy="1473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8912">
                  <a:extLst>
                    <a:ext uri="{9D8B030D-6E8A-4147-A177-3AD203B41FA5}">
                      <a16:colId xmlns:a16="http://schemas.microsoft.com/office/drawing/2014/main" val="201493651"/>
                    </a:ext>
                  </a:extLst>
                </a:gridCol>
              </a:tblGrid>
              <a:tr h="253524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tx1"/>
                          </a:solidFill>
                        </a:rPr>
                        <a:t>TYPE &amp; SOURCES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339988"/>
                  </a:ext>
                </a:extLst>
              </a:tr>
              <a:tr h="253524">
                <a:tc>
                  <a:txBody>
                    <a:bodyPr/>
                    <a:lstStyle/>
                    <a:p>
                      <a:r>
                        <a:rPr lang="fr-FR" dirty="0" err="1">
                          <a:solidFill>
                            <a:schemeClr val="accent1"/>
                          </a:solidFill>
                        </a:rPr>
                        <a:t>Demerso-pellagique</a:t>
                      </a:r>
                      <a:r>
                        <a:rPr lang="fr-FR" dirty="0">
                          <a:solidFill>
                            <a:schemeClr val="accent1"/>
                          </a:solidFill>
                        </a:rPr>
                        <a:t> DCE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099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6"/>
                          </a:solidFill>
                        </a:rPr>
                        <a:t>Benthos REBENT /!\ automne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9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Zooplancton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608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6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6571B4-CEFD-4BB7-B299-504B1B6C4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Macrobenthos</a:t>
            </a:r>
            <a:r>
              <a:rPr lang="fr-FR" dirty="0"/>
              <a:t> sampling (REBENT) </a:t>
            </a:r>
            <a:r>
              <a:rPr lang="fr-FR" dirty="0" err="1"/>
              <a:t>autumn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18B97C1-429D-47A7-B99C-7FC1F6DD9D2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26" r="15926"/>
          <a:stretch>
            <a:fillRect/>
          </a:stretch>
        </p:blipFill>
        <p:spPr bwMode="auto">
          <a:xfrm>
            <a:off x="409574" y="1922779"/>
            <a:ext cx="3362325" cy="45700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9CC3FC0-90AF-4522-AFE9-C94413C7E7A9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21"/>
          <a:stretch/>
        </p:blipFill>
        <p:spPr bwMode="auto">
          <a:xfrm>
            <a:off x="8374697" y="2016125"/>
            <a:ext cx="3522345" cy="37731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3325337-2589-4990-8CB1-D219ED252EDC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8" b="18776"/>
          <a:stretch/>
        </p:blipFill>
        <p:spPr bwMode="auto">
          <a:xfrm>
            <a:off x="3817302" y="2016125"/>
            <a:ext cx="4557395" cy="28257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78204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DD41B7-D787-4980-9A8C-DBC64D13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57" y="965035"/>
            <a:ext cx="4514286" cy="520700"/>
          </a:xfrm>
        </p:spPr>
        <p:txBody>
          <a:bodyPr>
            <a:normAutofit fontScale="90000"/>
          </a:bodyPr>
          <a:lstStyle/>
          <a:p>
            <a:r>
              <a:rPr lang="fr-FR" dirty="0"/>
              <a:t>Masses d’eau DCE vs zones halines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7C402ACB-E0DE-4140-9998-91B01EA99DB7}"/>
              </a:ext>
            </a:extLst>
          </p:cNvPr>
          <p:cNvGrpSpPr/>
          <p:nvPr/>
        </p:nvGrpSpPr>
        <p:grpSpPr>
          <a:xfrm>
            <a:off x="6724650" y="191249"/>
            <a:ext cx="4514286" cy="5990476"/>
            <a:chOff x="5133975" y="191249"/>
            <a:chExt cx="4514286" cy="5990476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65FA7C08-268B-4B4D-864C-692A8328F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33975" y="191249"/>
              <a:ext cx="4514286" cy="5990476"/>
            </a:xfrm>
            <a:prstGeom prst="rect">
              <a:avLst/>
            </a:prstGeom>
          </p:spPr>
        </p:pic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6EFEE1F-C848-4256-9689-1B95A6B1AF01}"/>
                </a:ext>
              </a:extLst>
            </p:cNvPr>
            <p:cNvCxnSpPr/>
            <p:nvPr/>
          </p:nvCxnSpPr>
          <p:spPr>
            <a:xfrm flipV="1">
              <a:off x="8001000" y="3429000"/>
              <a:ext cx="533400" cy="666750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D66E5995-C0BD-47B7-858C-87B9BE274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48525" y="2000250"/>
              <a:ext cx="752475" cy="887968"/>
            </a:xfrm>
            <a:prstGeom prst="line">
              <a:avLst/>
            </a:prstGeom>
            <a:ln w="571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903AE983-2F17-43FD-AC13-5552650F6F8D}"/>
              </a:ext>
            </a:extLst>
          </p:cNvPr>
          <p:cNvSpPr txBox="1"/>
          <p:nvPr/>
        </p:nvSpPr>
        <p:spPr>
          <a:xfrm>
            <a:off x="5295899" y="6181725"/>
            <a:ext cx="67341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/>
              <a:t>Lamour, M., Le Barh, R., Merg, M.-L., Grasso, F., Quinton, E., Rochard, E., Le Pichon, C., &amp; Acolas, M.-L. (2024). Using simulated environmental variables to assess the seasonal estuarine habitat selection of a critically endangered anadromous species (Acipenser sturio). Estuarine, Coastal and Shelf Science, 298, 108656. https://doi.org/10.1016/j.ecss.2024.108656</a:t>
            </a:r>
            <a:endParaRPr lang="fr-FR" sz="10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1EDD0DA-7E38-4A28-A377-004B827DEE8D}"/>
              </a:ext>
            </a:extLst>
          </p:cNvPr>
          <p:cNvSpPr txBox="1"/>
          <p:nvPr/>
        </p:nvSpPr>
        <p:spPr>
          <a:xfrm>
            <a:off x="449687" y="6077631"/>
            <a:ext cx="345799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/>
              <a:t>Etat écologique de l’estuaire de la Gironde</a:t>
            </a:r>
          </a:p>
          <a:p>
            <a:r>
              <a:rPr lang="fr-FR" sz="1000"/>
              <a:t>Réunion SAGE Estuaire de la Gironde 28 mars 2023, St-Estephe</a:t>
            </a:r>
          </a:p>
          <a:p>
            <a:r>
              <a:rPr lang="fr-FR" sz="1000"/>
              <a:t>Mario Lepage</a:t>
            </a:r>
            <a:endParaRPr lang="fr-FR" sz="1000" dirty="0"/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92AC94E1-97AB-4570-980F-C1EE6CE40F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889" b="2663"/>
          <a:stretch/>
        </p:blipFill>
        <p:spPr>
          <a:xfrm>
            <a:off x="348507" y="2000250"/>
            <a:ext cx="3895162" cy="3975912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56B07297-BC9E-4D28-9D83-EDB822A1BAE2}"/>
              </a:ext>
            </a:extLst>
          </p:cNvPr>
          <p:cNvSpPr txBox="1"/>
          <p:nvPr/>
        </p:nvSpPr>
        <p:spPr>
          <a:xfrm>
            <a:off x="4810125" y="3186487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Cohérent !</a:t>
            </a:r>
          </a:p>
        </p:txBody>
      </p:sp>
    </p:spTree>
    <p:extLst>
      <p:ext uri="{BB962C8B-B14F-4D97-AF65-F5344CB8AC3E}">
        <p14:creationId xmlns:p14="http://schemas.microsoft.com/office/powerpoint/2010/main" val="1951997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D9952-2DB9-41C4-B7F2-A86459240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Salinity</a:t>
            </a:r>
            <a:r>
              <a:rPr lang="fr-FR" dirty="0"/>
              <a:t> of DCE zones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56F9472-19D4-4036-83B8-7FE88B0B1D2F}"/>
              </a:ext>
            </a:extLst>
          </p:cNvPr>
          <p:cNvSpPr txBox="1"/>
          <p:nvPr/>
        </p:nvSpPr>
        <p:spPr>
          <a:xfrm>
            <a:off x="428625" y="2090441"/>
            <a:ext cx="1664238" cy="1661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u="sng" dirty="0"/>
              <a:t>Zones halines :</a:t>
            </a:r>
          </a:p>
          <a:p>
            <a:r>
              <a:rPr lang="fr-FR" dirty="0" err="1"/>
              <a:t>Oligohalin</a:t>
            </a:r>
            <a:r>
              <a:rPr lang="fr-FR" dirty="0"/>
              <a:t> 0.5-5</a:t>
            </a:r>
          </a:p>
          <a:p>
            <a:r>
              <a:rPr lang="fr-FR" dirty="0" err="1"/>
              <a:t>Mésohalin</a:t>
            </a:r>
            <a:r>
              <a:rPr lang="fr-FR" dirty="0"/>
              <a:t> 5-18</a:t>
            </a:r>
          </a:p>
          <a:p>
            <a:r>
              <a:rPr lang="fr-FR" dirty="0" err="1"/>
              <a:t>Polyhalin</a:t>
            </a:r>
            <a:r>
              <a:rPr lang="fr-FR" dirty="0"/>
              <a:t> 18-30</a:t>
            </a:r>
          </a:p>
          <a:p>
            <a:endParaRPr lang="fr-FR" dirty="0"/>
          </a:p>
          <a:p>
            <a:r>
              <a:rPr lang="fr-FR" sz="1200" i="1" dirty="0"/>
              <a:t>Source : </a:t>
            </a:r>
            <a:r>
              <a:rPr lang="fr-FR" sz="1200" i="1" dirty="0">
                <a:hlinkClick r:id="rId2"/>
              </a:rPr>
              <a:t>OFB</a:t>
            </a:r>
            <a:endParaRPr lang="fr-FR" sz="1200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4CDDE6D-345D-4A4A-9717-0E586948D046}"/>
              </a:ext>
            </a:extLst>
          </p:cNvPr>
          <p:cNvSpPr txBox="1"/>
          <p:nvPr/>
        </p:nvSpPr>
        <p:spPr>
          <a:xfrm>
            <a:off x="4098387" y="4853732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E76BF3"/>
                </a:solidFill>
              </a:rPr>
              <a:t>Méso &amp; poly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281DBE3-6D88-441C-84D9-C4B54DC767F1}"/>
              </a:ext>
            </a:extLst>
          </p:cNvPr>
          <p:cNvSpPr txBox="1"/>
          <p:nvPr/>
        </p:nvSpPr>
        <p:spPr>
          <a:xfrm>
            <a:off x="4098387" y="3504010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C094"/>
                </a:solidFill>
              </a:rPr>
              <a:t>Méso &amp; poly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5F0CB8D-2AEC-47FD-AA66-5B621C2ED85B}"/>
              </a:ext>
            </a:extLst>
          </p:cNvPr>
          <p:cNvSpPr txBox="1"/>
          <p:nvPr/>
        </p:nvSpPr>
        <p:spPr>
          <a:xfrm>
            <a:off x="4098387" y="2787255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8766D"/>
                </a:solidFill>
              </a:rPr>
              <a:t>Méso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8F50BD-7C56-4EDB-8C16-CC2598725D4D}"/>
              </a:ext>
            </a:extLst>
          </p:cNvPr>
          <p:cNvSpPr txBox="1"/>
          <p:nvPr/>
        </p:nvSpPr>
        <p:spPr>
          <a:xfrm>
            <a:off x="4098387" y="2090441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BF7D"/>
                </a:solidFill>
              </a:rPr>
              <a:t>Méso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E2834F6-6EA6-4362-BBF9-DABD485F4AB4}"/>
              </a:ext>
            </a:extLst>
          </p:cNvPr>
          <p:cNvSpPr txBox="1"/>
          <p:nvPr/>
        </p:nvSpPr>
        <p:spPr>
          <a:xfrm>
            <a:off x="4098387" y="2437864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A3A500"/>
                </a:solidFill>
              </a:rPr>
              <a:t>Poly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8173978-6557-4FD2-BEB7-C3B210119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200" y="1898155"/>
            <a:ext cx="6191250" cy="43053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DBBE17F-00F7-47D1-95CA-D8BAE85470C5}"/>
              </a:ext>
            </a:extLst>
          </p:cNvPr>
          <p:cNvSpPr txBox="1"/>
          <p:nvPr/>
        </p:nvSpPr>
        <p:spPr>
          <a:xfrm>
            <a:off x="4098387" y="4484400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Oligo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99F1F5B-915D-4A93-A99F-6BBA40654D46}"/>
              </a:ext>
            </a:extLst>
          </p:cNvPr>
          <p:cNvSpPr txBox="1"/>
          <p:nvPr/>
        </p:nvSpPr>
        <p:spPr>
          <a:xfrm>
            <a:off x="4098387" y="5197034"/>
            <a:ext cx="1657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Oligo</a:t>
            </a:r>
          </a:p>
        </p:txBody>
      </p:sp>
    </p:spTree>
    <p:extLst>
      <p:ext uri="{BB962C8B-B14F-4D97-AF65-F5344CB8AC3E}">
        <p14:creationId xmlns:p14="http://schemas.microsoft.com/office/powerpoint/2010/main" val="3654186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74145-D508-4EFE-97E2-83557D4A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Macrobenthic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A4999EAB-37A4-4E85-AB3D-DC3F52C9069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9402" y="1582737"/>
            <a:ext cx="5324476" cy="369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0020B65-05C7-425E-9472-9B2BFD8D1E0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123" y="1644470"/>
            <a:ext cx="4966653" cy="278129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D6D35CA-44F1-4574-9668-765AB5FBAD27}"/>
              </a:ext>
            </a:extLst>
          </p:cNvPr>
          <p:cNvSpPr txBox="1"/>
          <p:nvPr/>
        </p:nvSpPr>
        <p:spPr>
          <a:xfrm>
            <a:off x="6568123" y="4647406"/>
            <a:ext cx="49666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Observations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Mêmes tendances globales d’évolution entre inter- et </a:t>
            </a:r>
            <a:r>
              <a:rPr lang="fr-FR" dirty="0" err="1"/>
              <a:t>sub</a:t>
            </a:r>
            <a:r>
              <a:rPr lang="fr-FR" dirty="0"/>
              <a:t>-tidal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Subtidal</a:t>
            </a:r>
            <a:r>
              <a:rPr lang="fr-FR" dirty="0"/>
              <a:t> moins fortement affecté en Seine entre 2012 et 2017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Subtidal</a:t>
            </a:r>
            <a:r>
              <a:rPr lang="fr-FR" dirty="0"/>
              <a:t> plus fortement affecté en Gironde entre 2008 et 2017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B43FCFE-2E7B-474C-9805-1500B3BFC4E7}"/>
              </a:ext>
            </a:extLst>
          </p:cNvPr>
          <p:cNvSpPr txBox="1"/>
          <p:nvPr/>
        </p:nvSpPr>
        <p:spPr>
          <a:xfrm>
            <a:off x="472123" y="529254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 dirty="0"/>
              <a:t>Observations :</a:t>
            </a:r>
          </a:p>
          <a:p>
            <a:pPr marL="285750" indent="-285750">
              <a:buFontTx/>
              <a:buChar char="-"/>
            </a:pPr>
            <a:r>
              <a:rPr lang="fr-FR" dirty="0"/>
              <a:t>Densités quasi nulles en </a:t>
            </a:r>
            <a:r>
              <a:rPr lang="fr-FR" dirty="0" err="1"/>
              <a:t>subtidal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/>
              <a:t>Tendance à l’augmentation en Gironde et Seine</a:t>
            </a:r>
          </a:p>
          <a:p>
            <a:pPr marL="285750" indent="-285750">
              <a:buFontTx/>
              <a:buChar char="-"/>
            </a:pPr>
            <a:r>
              <a:rPr lang="fr-FR" dirty="0"/>
              <a:t>Densités beaucoup plus fortes en Loire</a:t>
            </a:r>
          </a:p>
        </p:txBody>
      </p:sp>
    </p:spTree>
    <p:extLst>
      <p:ext uri="{BB962C8B-B14F-4D97-AF65-F5344CB8AC3E}">
        <p14:creationId xmlns:p14="http://schemas.microsoft.com/office/powerpoint/2010/main" val="2076283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B4AF7-62FB-461B-8898-4A1AD376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Fish abondance / Densité d’automne, toutes masses d’eau confondues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174B544-C758-40AC-985E-BE1C51CAC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2019300"/>
            <a:ext cx="9001125" cy="43053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B88258D-C26B-46AF-BFFE-96730AC56415}"/>
              </a:ext>
            </a:extLst>
          </p:cNvPr>
          <p:cNvSpPr txBox="1"/>
          <p:nvPr/>
        </p:nvSpPr>
        <p:spPr>
          <a:xfrm>
            <a:off x="8572500" y="4848910"/>
            <a:ext cx="34766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 dirty="0"/>
              <a:t>Observations soles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G0 &gt;&gt; G1 en Loire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Loire &gt; Gironde ≈ Seine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C4BDA77-6EB9-41DD-92CD-A4A744F08F63}"/>
              </a:ext>
            </a:extLst>
          </p:cNvPr>
          <p:cNvSpPr txBox="1"/>
          <p:nvPr/>
        </p:nvSpPr>
        <p:spPr>
          <a:xfrm>
            <a:off x="8420100" y="2069469"/>
            <a:ext cx="3476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 dirty="0"/>
              <a:t>Observations bars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Très faible en Gironde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Tendance à l’augmentation en Loire et Seine</a:t>
            </a:r>
          </a:p>
        </p:txBody>
      </p:sp>
    </p:spTree>
    <p:extLst>
      <p:ext uri="{BB962C8B-B14F-4D97-AF65-F5344CB8AC3E}">
        <p14:creationId xmlns:p14="http://schemas.microsoft.com/office/powerpoint/2010/main" val="1993167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B4AF7-62FB-461B-8898-4A1AD3760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Sole abondance vs benthos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B3FB00-7836-48FC-A296-8E9BC3FD9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2114550"/>
            <a:ext cx="8120063" cy="43053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A3F5371-8CB2-44E6-A718-932A7F27AF5A}"/>
              </a:ext>
            </a:extLst>
          </p:cNvPr>
          <p:cNvSpPr txBox="1"/>
          <p:nvPr/>
        </p:nvSpPr>
        <p:spPr>
          <a:xfrm>
            <a:off x="9229725" y="1367522"/>
            <a:ext cx="18094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fr-FR" dirty="0"/>
              <a:t>Local polynomial</a:t>
            </a:r>
          </a:p>
          <a:p>
            <a:r>
              <a:rPr lang="fr-FR" dirty="0" err="1"/>
              <a:t>Regression</a:t>
            </a:r>
            <a:r>
              <a:rPr lang="fr-FR" dirty="0"/>
              <a:t> </a:t>
            </a:r>
            <a:r>
              <a:rPr lang="fr-FR" dirty="0" err="1"/>
              <a:t>fitting</a:t>
            </a:r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75B6C4-6679-420F-BA72-5B8990C2B3F1}"/>
              </a:ext>
            </a:extLst>
          </p:cNvPr>
          <p:cNvSpPr/>
          <p:nvPr/>
        </p:nvSpPr>
        <p:spPr>
          <a:xfrm>
            <a:off x="752475" y="4162425"/>
            <a:ext cx="6877050" cy="2257425"/>
          </a:xfrm>
          <a:prstGeom prst="rect">
            <a:avLst/>
          </a:prstGeom>
          <a:noFill/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901BCF-EFEB-450A-95AB-5B0CA083104F}"/>
              </a:ext>
            </a:extLst>
          </p:cNvPr>
          <p:cNvSpPr txBox="1"/>
          <p:nvPr/>
        </p:nvSpPr>
        <p:spPr>
          <a:xfrm>
            <a:off x="8677275" y="2475815"/>
            <a:ext cx="32670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/>
              <a:t>Observations soles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Peu d’impact de l’état du benthos </a:t>
            </a:r>
            <a:r>
              <a:rPr lang="fr-FR" dirty="0" err="1"/>
              <a:t>subtidal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Tendances benthos Gironde opposée aux tendances soles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Les abondances de proies intertidales supérieures en Loire pourraient expliquer les plus fortes abondances de soles</a:t>
            </a:r>
          </a:p>
        </p:txBody>
      </p:sp>
    </p:spTree>
    <p:extLst>
      <p:ext uri="{BB962C8B-B14F-4D97-AF65-F5344CB8AC3E}">
        <p14:creationId xmlns:p14="http://schemas.microsoft.com/office/powerpoint/2010/main" val="1499200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7BD328-EB4F-4D95-8DDA-7F0BF508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Shrimps</a:t>
            </a:r>
            <a:r>
              <a:rPr lang="fr-FR" dirty="0"/>
              <a:t>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biomass</a:t>
            </a:r>
            <a:r>
              <a:rPr lang="fr-FR" dirty="0"/>
              <a:t> per trait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042E5E-B42D-4184-B5CB-4F672183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690688"/>
            <a:ext cx="900112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3011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697</Words>
  <Application>Microsoft Office PowerPoint</Application>
  <PresentationFormat>Grand écran</PresentationFormat>
  <Paragraphs>178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Symbol</vt:lpstr>
      <vt:lpstr>Thème Office</vt:lpstr>
      <vt:lpstr>POMET (DCE): fish &amp; demerso-pellagic preys  vs  REBENT: benthic preys</vt:lpstr>
      <vt:lpstr>Ecological guilds</vt:lpstr>
      <vt:lpstr>Marine juvenile species (MJ)</vt:lpstr>
      <vt:lpstr>Common sole and european seabass autumn spatial distribution depending on fish length</vt:lpstr>
      <vt:lpstr>Biological size classes</vt:lpstr>
      <vt:lpstr>Sole and seabass preys</vt:lpstr>
      <vt:lpstr>Macrobenthos sampling (REBENT) autumn</vt:lpstr>
      <vt:lpstr>Masses d’eau DCE vs zones halines</vt:lpstr>
      <vt:lpstr>Salinity of DCE zones</vt:lpstr>
      <vt:lpstr>Macrobenthic results</vt:lpstr>
      <vt:lpstr>Fish abondance / Densité d’automne, toutes masses d’eau confondues</vt:lpstr>
      <vt:lpstr>Sole abondance vs benthos</vt:lpstr>
      <vt:lpstr>Shrimps mean biomass per trait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Florence Mounier</dc:creator>
  <cp:lastModifiedBy>Florence Mounier</cp:lastModifiedBy>
  <cp:revision>27</cp:revision>
  <dcterms:created xsi:type="dcterms:W3CDTF">2026-02-05T06:58:06Z</dcterms:created>
  <dcterms:modified xsi:type="dcterms:W3CDTF">2026-02-05T16:37:24Z</dcterms:modified>
</cp:coreProperties>
</file>